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71057D-7A04-4F34-A6BC-00BAC2A40AC7}" v="703" dt="2026-01-18T00:12:21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168" y="364067"/>
            <a:ext cx="5446084" cy="4567137"/>
          </a:xfrm>
        </p:spPr>
        <p:txBody>
          <a:bodyPr>
            <a:normAutofit/>
          </a:bodyPr>
          <a:lstStyle/>
          <a:p>
            <a:pPr algn="l"/>
            <a:endParaRPr lang="en-US" sz="3400"/>
          </a:p>
          <a:p>
            <a:pPr algn="l"/>
            <a:br>
              <a:rPr lang="en-US" sz="3400" dirty="0"/>
            </a:br>
            <a:endParaRPr lang="en-US" sz="3400"/>
          </a:p>
          <a:p>
            <a:pPr algn="l"/>
            <a:r>
              <a:rPr lang="en-US" sz="3400" err="1"/>
              <a:t>ԱՆՇԱՐԺ</a:t>
            </a:r>
            <a:r>
              <a:rPr lang="en-US" sz="3400" dirty="0"/>
              <a:t> </a:t>
            </a:r>
            <a:r>
              <a:rPr lang="en-US" sz="3400" err="1"/>
              <a:t>ԳՈՒՅՔԻ</a:t>
            </a:r>
            <a:r>
              <a:rPr lang="en-US" sz="3400" dirty="0"/>
              <a:t> </a:t>
            </a:r>
            <a:r>
              <a:rPr lang="en-US" sz="3400" err="1"/>
              <a:t>ԳՆԵՐԻ</a:t>
            </a:r>
            <a:r>
              <a:rPr lang="en-US" sz="3400" dirty="0"/>
              <a:t> </a:t>
            </a:r>
            <a:r>
              <a:rPr lang="en-US" sz="3400" err="1"/>
              <a:t>ԿԱՆԽԱՏԵՍՄԱՆ</a:t>
            </a:r>
            <a:r>
              <a:rPr lang="en-US" sz="3400" dirty="0"/>
              <a:t> </a:t>
            </a:r>
            <a:r>
              <a:rPr lang="en-US" sz="3400" err="1"/>
              <a:t>ՀԱՄԱԿԱՐԳԻ</a:t>
            </a:r>
            <a:r>
              <a:rPr lang="en-US" sz="3400" dirty="0"/>
              <a:t> </a:t>
            </a:r>
            <a:r>
              <a:rPr lang="en-US" sz="3400" err="1"/>
              <a:t>ՄՇԱԿՈՒՄ</a:t>
            </a:r>
            <a:br>
              <a:rPr lang="en-US" sz="3400" dirty="0"/>
            </a:br>
            <a:endParaRPr lang="en-US" sz="3400"/>
          </a:p>
          <a:p>
            <a:pPr algn="l"/>
            <a:endParaRPr lang="en-US" sz="3400"/>
          </a:p>
        </p:txBody>
      </p:sp>
      <p:pic>
        <p:nvPicPr>
          <p:cNvPr id="3" name="Picture 2" descr="A person holding a small house&#10;&#10;AI-generated content may be incorrect.">
            <a:extLst>
              <a:ext uri="{FF2B5EF4-FFF2-40B4-BE49-F238E27FC236}">
                <a16:creationId xmlns:a16="http://schemas.microsoft.com/office/drawing/2014/main" id="{96360D10-FD7A-8F72-25B7-4C9DDB4910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2" r="937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798E1-A896-C130-2398-6A8C834E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32" y="1175442"/>
            <a:ext cx="4485861" cy="108813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err="1">
                <a:ea typeface="+mj-lt"/>
                <a:cs typeface="+mj-lt"/>
              </a:rPr>
              <a:t>Նախագծի</a:t>
            </a:r>
            <a:r>
              <a:rPr lang="en-US" sz="5400" dirty="0">
                <a:ea typeface="+mj-lt"/>
                <a:cs typeface="+mj-lt"/>
              </a:rPr>
              <a:t> </a:t>
            </a:r>
            <a:r>
              <a:rPr lang="en-US" sz="5400" err="1">
                <a:ea typeface="+mj-lt"/>
                <a:cs typeface="+mj-lt"/>
              </a:rPr>
              <a:t>նպատակը</a:t>
            </a:r>
            <a:endParaRPr lang="en-US" sz="5400" err="1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93F1-F1B5-501A-7973-97E194AB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44" y="2281240"/>
            <a:ext cx="5406984" cy="438820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1800" b="1">
              <a:latin typeface="Aptos"/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   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Մշակել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մեքենայական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ուսուցման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վրա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հիմնված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համակարգ,որը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 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կկարողանա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կանխատեսել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անշարժ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գույքի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գինը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՝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ելնելով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 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տան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տարբեր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հատկանիշներից։Նպատակն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է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ոչ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միայն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կանխատեսել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,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այլ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հասկանալ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՝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ինչ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գործոններ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են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ազդում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գնի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վրա</a:t>
            </a:r>
            <a:r>
              <a:rPr lang="en-US" sz="2400" dirty="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։</a:t>
            </a:r>
            <a:endParaRPr lang="en-US" sz="240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2000" dirty="0">
              <a:latin typeface="Aptos"/>
              <a:ea typeface="Calibri"/>
              <a:cs typeface="Calibri"/>
            </a:endParaRPr>
          </a:p>
        </p:txBody>
      </p:sp>
      <p:pic>
        <p:nvPicPr>
          <p:cNvPr id="4" name="Picture 3" descr="A pen on top of a paper with a house on it&#10;&#10;AI-generated content may be incorrect.">
            <a:extLst>
              <a:ext uri="{FF2B5EF4-FFF2-40B4-BE49-F238E27FC236}">
                <a16:creationId xmlns:a16="http://schemas.microsoft.com/office/drawing/2014/main" id="{9524865E-6632-B284-2DBE-06A117D6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78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925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71CA1-3B51-3645-E625-5C877139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9D4B4-573C-70A4-91C0-2BCE10AD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74660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Նախագծի խնդիրները</a:t>
            </a:r>
            <a:endParaRPr lang="en-US" sz="5400"/>
          </a:p>
        </p:txBody>
      </p:sp>
      <p:pic>
        <p:nvPicPr>
          <p:cNvPr id="4" name="Picture 3" descr="Miniature figurines of men standing on paper with a graph and boxes&#10;&#10;AI-generated content may be incorrect.">
            <a:extLst>
              <a:ext uri="{FF2B5EF4-FFF2-40B4-BE49-F238E27FC236}">
                <a16:creationId xmlns:a16="http://schemas.microsoft.com/office/drawing/2014/main" id="{5D0C9487-93D6-2A59-F8D9-0B0020C6B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" r="5736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7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71C3C-EF2F-8B2F-7B6C-9F7D89D2C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2899" y="2101199"/>
            <a:ext cx="7792275" cy="473646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1900" b="1">
              <a:latin typeface="Apto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1․Տվյալների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բազայի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ուսումնասիրություն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նախնական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վերլուծություն</a:t>
            </a:r>
            <a:endParaRPr lang="en-US" sz="2400">
              <a:latin typeface="Apto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2․Տվյալների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մաքրում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նախապատրաստում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մեքենայական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ուսուցման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համար</a:t>
            </a:r>
            <a:endParaRPr lang="en-US" sz="2400"/>
          </a:p>
          <a:p>
            <a:pPr marL="0" indent="0">
              <a:buNone/>
            </a:pP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3․Կատեգորիկ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տվյալների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թվայնացում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(encoding)</a:t>
            </a:r>
            <a:endParaRPr lang="en-US" sz="2400"/>
          </a:p>
          <a:p>
            <a:pPr marL="0" indent="0">
              <a:buNone/>
            </a:pP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4․Տվյալների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վիզուալ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վերլուծություն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գրաֆիկների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միջոցով</a:t>
            </a:r>
            <a:endParaRPr lang="en-US" sz="2400"/>
          </a:p>
          <a:p>
            <a:pPr marL="0" indent="0">
              <a:buNone/>
            </a:pP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5․Տարբեր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մեքենայական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ուսուցման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մոդելների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ուսուցում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համեմատություն</a:t>
            </a:r>
            <a:endParaRPr lang="en-US" sz="2400"/>
          </a:p>
          <a:p>
            <a:pPr marL="0" indent="0">
              <a:buNone/>
            </a:pP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6․Լավագույն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մոդելի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ընտրություն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գնահատում</a:t>
            </a:r>
            <a:endParaRPr lang="en-US" sz="2400" err="1"/>
          </a:p>
          <a:p>
            <a:pPr>
              <a:buNone/>
            </a:pPr>
            <a:endParaRPr lang="en-US" sz="1900">
              <a:highlight>
                <a:srgbClr val="FFFFFF"/>
              </a:highlight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364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E5764-1427-5FD2-CFD6-93B86203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36" y="55320"/>
            <a:ext cx="5473700" cy="26461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kern="1200" err="1">
                <a:highlight>
                  <a:srgbClr val="FFFFFF"/>
                </a:highlight>
                <a:latin typeface="+mj-lt"/>
                <a:ea typeface="+mj-ea"/>
                <a:cs typeface="+mj-cs"/>
              </a:rPr>
              <a:t>Գրադարանների</a:t>
            </a:r>
            <a:r>
              <a:rPr lang="en-US" sz="5400" kern="1200" dirty="0">
                <a:highlight>
                  <a:srgbClr val="FFFFFF"/>
                </a:highlight>
                <a:latin typeface="+mj-lt"/>
                <a:ea typeface="+mj-ea"/>
                <a:cs typeface="+mj-cs"/>
              </a:rPr>
              <a:t> </a:t>
            </a:r>
            <a:r>
              <a:rPr lang="en-US" sz="5400" kern="1200" err="1">
                <a:highlight>
                  <a:srgbClr val="FFFFFF"/>
                </a:highlight>
                <a:latin typeface="+mj-lt"/>
                <a:ea typeface="+mj-ea"/>
                <a:cs typeface="+mj-cs"/>
              </a:rPr>
              <a:t>ներբեռնում</a:t>
            </a:r>
            <a:endParaRPr lang="en-US" sz="5400" kern="1200" err="1">
              <a:latin typeface="+mj-lt"/>
            </a:endParaRPr>
          </a:p>
          <a:p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C966B-5F8A-BED2-9A41-208CD0964990}"/>
              </a:ext>
            </a:extLst>
          </p:cNvPr>
          <p:cNvSpPr txBox="1"/>
          <p:nvPr/>
        </p:nvSpPr>
        <p:spPr>
          <a:xfrm>
            <a:off x="402336" y="2705608"/>
            <a:ext cx="5219700" cy="399491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Pandas և NumPy </a:t>
            </a:r>
            <a:r>
              <a:rPr lang="en-US" sz="2400" err="1"/>
              <a:t>գրադարանները</a:t>
            </a:r>
            <a:r>
              <a:rPr lang="en-US" sz="2400" dirty="0"/>
              <a:t> </a:t>
            </a:r>
            <a:r>
              <a:rPr lang="en-US" sz="2400" err="1"/>
              <a:t>օգտագործվում</a:t>
            </a:r>
            <a:r>
              <a:rPr lang="en-US" sz="2400" dirty="0"/>
              <a:t> </a:t>
            </a:r>
            <a:r>
              <a:rPr lang="en-US" sz="2400" err="1"/>
              <a:t>են</a:t>
            </a:r>
            <a:r>
              <a:rPr lang="en-US" sz="2400" dirty="0"/>
              <a:t> </a:t>
            </a:r>
            <a:r>
              <a:rPr lang="en-US" sz="2400" err="1"/>
              <a:t>տվյալների</a:t>
            </a:r>
            <a:r>
              <a:rPr lang="en-US" sz="2400" dirty="0"/>
              <a:t> </a:t>
            </a:r>
            <a:r>
              <a:rPr lang="en-US" sz="2400" err="1"/>
              <a:t>մշակման</a:t>
            </a:r>
            <a:r>
              <a:rPr lang="en-US" sz="2400" dirty="0"/>
              <a:t> </a:t>
            </a:r>
            <a:r>
              <a:rPr lang="en-US" sz="2400" err="1"/>
              <a:t>համար</a:t>
            </a:r>
            <a:r>
              <a:rPr lang="en-US" sz="2400" dirty="0"/>
              <a:t>, Matplotlib և Seaborn-ը՝ </a:t>
            </a:r>
            <a:r>
              <a:rPr lang="en-US" sz="2400" err="1"/>
              <a:t>վիզուալիզացիաների</a:t>
            </a:r>
            <a:r>
              <a:rPr lang="en-US" sz="2400" dirty="0"/>
              <a:t> </a:t>
            </a:r>
            <a:r>
              <a:rPr lang="en-US" sz="2400" err="1"/>
              <a:t>ստեղծման</a:t>
            </a:r>
            <a:r>
              <a:rPr lang="en-US" sz="2400" dirty="0"/>
              <a:t> </a:t>
            </a:r>
            <a:r>
              <a:rPr lang="en-US" sz="2400" err="1"/>
              <a:t>նպատակով</a:t>
            </a:r>
            <a:r>
              <a:rPr lang="en-US" sz="2400" dirty="0"/>
              <a:t>, </a:t>
            </a:r>
            <a:r>
              <a:rPr lang="en-US" sz="2400" err="1"/>
              <a:t>իսկ</a:t>
            </a:r>
            <a:r>
              <a:rPr lang="en-US" sz="2400" dirty="0"/>
              <a:t> Scikit-learn-ը՝ </a:t>
            </a:r>
            <a:r>
              <a:rPr lang="en-US" sz="2400" err="1"/>
              <a:t>տվյալների</a:t>
            </a:r>
            <a:r>
              <a:rPr lang="en-US" sz="2400" dirty="0"/>
              <a:t> </a:t>
            </a:r>
            <a:r>
              <a:rPr lang="en-US" sz="2400" err="1"/>
              <a:t>նախապատրաստման</a:t>
            </a:r>
            <a:r>
              <a:rPr lang="en-US" sz="2400" dirty="0"/>
              <a:t> և </a:t>
            </a:r>
            <a:r>
              <a:rPr lang="en-US" sz="2400" err="1"/>
              <a:t>մեքենայական</a:t>
            </a:r>
            <a:r>
              <a:rPr lang="en-US" sz="2400" dirty="0"/>
              <a:t> </a:t>
            </a:r>
            <a:r>
              <a:rPr lang="en-US" sz="2400" err="1"/>
              <a:t>ուսուցման</a:t>
            </a:r>
            <a:r>
              <a:rPr lang="en-US" sz="2400" dirty="0"/>
              <a:t> </a:t>
            </a:r>
            <a:r>
              <a:rPr lang="en-US" sz="2400" err="1"/>
              <a:t>մոդելների</a:t>
            </a:r>
            <a:r>
              <a:rPr lang="en-US" sz="2400" dirty="0"/>
              <a:t> </a:t>
            </a:r>
            <a:r>
              <a:rPr lang="en-US" sz="2400" err="1"/>
              <a:t>կառուցման</a:t>
            </a:r>
            <a:r>
              <a:rPr lang="en-US" sz="2400" dirty="0"/>
              <a:t> </a:t>
            </a:r>
            <a:r>
              <a:rPr lang="en-US" sz="2400" err="1"/>
              <a:t>համար</a:t>
            </a:r>
            <a:r>
              <a:rPr lang="en-US" sz="2400" dirty="0"/>
              <a:t>։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218957B-99B9-84FE-3CA2-7E83854F2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02" b="-1"/>
          <a:stretch>
            <a:fillRect/>
          </a:stretch>
        </p:blipFill>
        <p:spPr>
          <a:xfrm>
            <a:off x="5615069" y="640080"/>
            <a:ext cx="673477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C6B09-774D-2E8C-A2E6-018EAA0E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 fontScale="90000"/>
          </a:bodyPr>
          <a:lstStyle/>
          <a:p>
            <a:r>
              <a:rPr lang="en-US" sz="5400" dirty="0" err="1">
                <a:solidFill>
                  <a:srgbClr val="FFFFFF"/>
                </a:solidFill>
                <a:ea typeface="+mj-lt"/>
                <a:cs typeface="+mj-lt"/>
              </a:rPr>
              <a:t>Տվյալների</a:t>
            </a:r>
            <a:r>
              <a:rPr lang="en-US" sz="54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FFFFFF"/>
                </a:solidFill>
                <a:ea typeface="+mj-lt"/>
                <a:cs typeface="+mj-lt"/>
              </a:rPr>
              <a:t>ներբեռնում</a:t>
            </a:r>
            <a:endParaRPr lang="en-US" sz="5400" dirty="0" err="1">
              <a:solidFill>
                <a:srgbClr val="FFFFFF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46F7F-DADF-8211-28A8-80158C620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Այս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փուլում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տվյալները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ներբեռնվում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են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CSV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ֆայլից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և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իրականացվում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է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նախնական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ուսումնասիրություն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։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Դիտարկվում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են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տվյալների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առաջին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տողերը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չափսերը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և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կառուցվածքը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՝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հասկանալու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համար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թե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ինչպիսի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սյունակներ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և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տվյալների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տիպեր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են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FFFFFF"/>
                </a:solidFill>
                <a:ea typeface="+mn-lt"/>
                <a:cs typeface="+mn-lt"/>
              </a:rPr>
              <a:t>առկա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։</a:t>
            </a: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7496E5-548A-0BAB-4EAE-201DE4B8B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76" y="2971800"/>
            <a:ext cx="10165855" cy="32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6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9419F2-8975-DBF9-635C-8CBFC0DC1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53" y="287867"/>
            <a:ext cx="7199594" cy="58377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3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DE1FC-35F8-0D76-ADCC-681C59A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10853790" cy="1330841"/>
          </a:xfrm>
        </p:spPr>
        <p:txBody>
          <a:bodyPr>
            <a:noAutofit/>
          </a:bodyPr>
          <a:lstStyle/>
          <a:p>
            <a:r>
              <a:rPr lang="hy-AM" sz="5400" b="0" dirty="0">
                <a:latin typeface="Google Sans Text"/>
                <a:ea typeface="Google Sans Text"/>
                <a:cs typeface="Google Sans Text"/>
              </a:rPr>
              <a:t>Նկարագրական վիճակագրություն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5AF4-5776-33F1-5C9F-01D3EDF7C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14" y="2198362"/>
            <a:ext cx="5700089" cy="404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Նկարագրական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վիճակագրությունը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թույլ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տալիս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ստանալ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տվյալների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կենտրոնական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միտումների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տարածման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ընդհանուր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պատկերը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Այս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քայլը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օգնում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հասկանալ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թվային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փոփոխականների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միջին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արժեքները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նվազագույն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առավելագույն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սահմանները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ինչպես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նաև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հնարավոր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արտառոց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արժեքների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առկայությունը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 dirty="0"/>
          </a:p>
        </p:txBody>
      </p:sp>
      <p:pic>
        <p:nvPicPr>
          <p:cNvPr id="4" name="Picture 3" descr="A screenshot of a data&#10;&#10;AI-generated content may be incorrect.">
            <a:extLst>
              <a:ext uri="{FF2B5EF4-FFF2-40B4-BE49-F238E27FC236}">
                <a16:creationId xmlns:a16="http://schemas.microsoft.com/office/drawing/2014/main" id="{ECAA8116-1EB6-8320-48D8-4CB5D707B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655" y="2193238"/>
            <a:ext cx="6542148" cy="321734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8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1AF017-741B-4CC0-B7C2-C9B94E5B8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FC9E5C3-B8DC-4532-8C1F-4D5331C6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863975" y="-12"/>
            <a:ext cx="8328026" cy="68579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B8264-FB29-6EFA-696A-36048780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237" y="545648"/>
            <a:ext cx="6081713" cy="17462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err="1">
                <a:highlight>
                  <a:srgbClr val="FFFFFF"/>
                </a:highlight>
              </a:rPr>
              <a:t>Բացակայող</a:t>
            </a:r>
            <a:r>
              <a:rPr lang="en-US" sz="4000" dirty="0">
                <a:highlight>
                  <a:srgbClr val="FFFFFF"/>
                </a:highlight>
              </a:rPr>
              <a:t> </a:t>
            </a:r>
            <a:r>
              <a:rPr lang="en-US" sz="4000" err="1">
                <a:highlight>
                  <a:srgbClr val="FFFFFF"/>
                </a:highlight>
              </a:rPr>
              <a:t>արժեքների</a:t>
            </a:r>
            <a:r>
              <a:rPr lang="en-US" sz="4000" dirty="0">
                <a:highlight>
                  <a:srgbClr val="FFFFFF"/>
                </a:highlight>
              </a:rPr>
              <a:t> և </a:t>
            </a:r>
            <a:r>
              <a:rPr lang="en-US" sz="4000" err="1">
                <a:highlight>
                  <a:srgbClr val="FFFFFF"/>
                </a:highlight>
              </a:rPr>
              <a:t>կրկնօրինակների</a:t>
            </a:r>
            <a:r>
              <a:rPr lang="en-US" sz="4000" dirty="0">
                <a:highlight>
                  <a:srgbClr val="FFFFFF"/>
                </a:highlight>
              </a:rPr>
              <a:t> </a:t>
            </a:r>
            <a:r>
              <a:rPr lang="en-US" sz="4000" err="1">
                <a:highlight>
                  <a:srgbClr val="FFFFFF"/>
                </a:highlight>
              </a:rPr>
              <a:t>վերլուծություն</a:t>
            </a:r>
            <a:endParaRPr lang="en-US" sz="4000" err="1"/>
          </a:p>
          <a:p>
            <a:endParaRPr lang="en-US" sz="150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FF03D35-1046-EBD1-9B02-BF554199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2" r="-3" b="1222"/>
          <a:stretch>
            <a:fillRect/>
          </a:stretch>
        </p:blipFill>
        <p:spPr>
          <a:xfrm>
            <a:off x="550862" y="551479"/>
            <a:ext cx="5256213" cy="279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B79C5-0735-85B6-945A-8F1354BBE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238" y="2579900"/>
            <a:ext cx="5256214" cy="42767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Այս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հատվածում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վերլուծվում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են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բացակայող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արժեքների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առկայությունը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դրանց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բաշխումը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Heatmap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վիզուալիզացիան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օգնում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արագ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հայտնաբերել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խնդիր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ունեցող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սյունակները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Բացի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այդ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ստուգվում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հեռացվում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են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կրկնօրինակ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տողերը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՝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տվյալների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որակը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բարձրացնելու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նպատակով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82A02BA-CC0F-43F7-EB5E-D5DF9AAD03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81" b="1"/>
          <a:stretch>
            <a:fillRect/>
          </a:stretch>
        </p:blipFill>
        <p:spPr>
          <a:xfrm>
            <a:off x="550862" y="3518725"/>
            <a:ext cx="5256000" cy="279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31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Content Placeholder 3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A8A0B560-14EC-CCBF-6AA9-055933628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200" y="294374"/>
            <a:ext cx="9189248" cy="626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5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1AF017-741B-4CC0-B7C2-C9B94E5B8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FC9E5C3-B8DC-4532-8C1F-4D5331C6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863975" y="-12"/>
            <a:ext cx="8328026" cy="68579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D5CD1-8613-0181-51E7-A3C7C92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7782" y="257781"/>
            <a:ext cx="6215768" cy="11041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err="1">
                <a:highlight>
                  <a:srgbClr val="FFFFFF"/>
                </a:highlight>
              </a:rPr>
              <a:t>Անոմալիաների</a:t>
            </a:r>
            <a:r>
              <a:rPr lang="en-US" sz="4000" dirty="0">
                <a:highlight>
                  <a:srgbClr val="FFFFFF"/>
                </a:highlight>
              </a:rPr>
              <a:t> (Outliers) </a:t>
            </a:r>
            <a:r>
              <a:rPr lang="en-US" sz="4000" err="1">
                <a:highlight>
                  <a:srgbClr val="FFFFFF"/>
                </a:highlight>
              </a:rPr>
              <a:t>հայտնաբերում</a:t>
            </a:r>
            <a:endParaRPr lang="en-US" sz="4000" err="1"/>
          </a:p>
          <a:p>
            <a:endParaRPr lang="en-US" sz="2000"/>
          </a:p>
        </p:txBody>
      </p:sp>
      <p:pic>
        <p:nvPicPr>
          <p:cNvPr id="4" name="Picture 3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4C558FFE-E73C-27A1-1E85-1CEAF1AC1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" t="-5091" r="-194" b="-597"/>
          <a:stretch>
            <a:fillRect/>
          </a:stretch>
        </p:blipFill>
        <p:spPr>
          <a:xfrm>
            <a:off x="224843" y="4249566"/>
            <a:ext cx="9661391" cy="261005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48143-6FEC-8348-AAF0-5BF69628C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783" y="1579422"/>
            <a:ext cx="6399213" cy="26822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Boxplot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գրաֆիկների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միջոցով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վերլուծվում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են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թվային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փոփոխականների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բաշխումները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հնարավոր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արտառոց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արժեքները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Անոմալիաների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հայտնաբերումը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կարևոր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է,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քանի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դրանք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կարող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են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բացասաբար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ազդել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մոդելի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ուսուցման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կանխատեսման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ճշգրտության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վրա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5" name="Picture 4" descr="A graph with a blue rectangle&#10;&#10;AI-generated content may be incorrect.">
            <a:extLst>
              <a:ext uri="{FF2B5EF4-FFF2-40B4-BE49-F238E27FC236}">
                <a16:creationId xmlns:a16="http://schemas.microsoft.com/office/drawing/2014/main" id="{9F36D84C-3EDC-1E96-A6C8-DE7788B90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17" t="356" r="-2221" b="-732"/>
          <a:stretch>
            <a:fillRect/>
          </a:stretch>
        </p:blipFill>
        <p:spPr>
          <a:xfrm>
            <a:off x="278566" y="256703"/>
            <a:ext cx="5405160" cy="331055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535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DF17A-ECE5-978C-F9B1-FF64859A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2598566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chemeClr val="tx2"/>
                </a:solidFill>
                <a:highlight>
                  <a:srgbClr val="FFFFFF"/>
                </a:highlight>
              </a:rPr>
              <a:t>Տվյալների</a:t>
            </a:r>
            <a:r>
              <a:rPr lang="en-US" sz="4000" dirty="0">
                <a:solidFill>
                  <a:schemeClr val="tx2"/>
                </a:solidFill>
                <a:highlight>
                  <a:srgbClr val="FFFFFF"/>
                </a:highlight>
              </a:rPr>
              <a:t> </a:t>
            </a:r>
            <a:r>
              <a:rPr lang="en-US" sz="4000" err="1">
                <a:solidFill>
                  <a:schemeClr val="tx2"/>
                </a:solidFill>
                <a:highlight>
                  <a:srgbClr val="FFFFFF"/>
                </a:highlight>
              </a:rPr>
              <a:t>բաշխման</a:t>
            </a:r>
            <a:r>
              <a:rPr lang="en-US" sz="4000" dirty="0">
                <a:solidFill>
                  <a:schemeClr val="tx2"/>
                </a:solidFill>
                <a:highlight>
                  <a:srgbClr val="FFFFFF"/>
                </a:highlight>
              </a:rPr>
              <a:t> </a:t>
            </a:r>
            <a:r>
              <a:rPr lang="en-US" sz="4000" err="1">
                <a:solidFill>
                  <a:schemeClr val="tx2"/>
                </a:solidFill>
                <a:highlight>
                  <a:srgbClr val="FFFFFF"/>
                </a:highlight>
              </a:rPr>
              <a:t>վերլուծություն</a:t>
            </a:r>
            <a:endParaRPr lang="en-US" sz="4000" err="1">
              <a:solidFill>
                <a:schemeClr val="tx2"/>
              </a:solidFill>
            </a:endParaRPr>
          </a:p>
          <a:p>
            <a:endParaRPr lang="en-US" sz="40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427E-43B9-87C9-A1F0-46688D3F8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340" y="975068"/>
            <a:ext cx="5029200" cy="17739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Այս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հատվածում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յուրաքանչյուր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թվային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փոփոխականի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համար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կառուցվում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են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հիստոգրամներ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KDE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գծերով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Սա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թույլ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տալիս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գնահատել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տվյալների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բաշխման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ձևը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ասիմետրիան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նորմալությանը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մոտ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լինելը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ինչը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կարևոր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մոդելավորման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փուլում</a:t>
            </a:r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AE95CD51-C42D-5C2B-B17A-3ADC02588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97" y="2748335"/>
            <a:ext cx="6294292" cy="3781065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D0F1B48-EA3E-BC01-99E9-64E8E89DE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641" y="3971851"/>
            <a:ext cx="5166360" cy="148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diagram of a heat map&#10;&#10;AI-generated content may be incorrect.">
            <a:extLst>
              <a:ext uri="{FF2B5EF4-FFF2-40B4-BE49-F238E27FC236}">
                <a16:creationId xmlns:a16="http://schemas.microsoft.com/office/drawing/2014/main" id="{1051120D-4D4A-0BF3-CF4B-A1B52C6BA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66" y="656199"/>
            <a:ext cx="11353157" cy="621956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BFF0DC-F75E-C470-79F5-9135461A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090" y="-285"/>
            <a:ext cx="1049302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err="1">
                <a:highlight>
                  <a:srgbClr val="FFFFFF"/>
                </a:highlight>
              </a:rPr>
              <a:t>Կոռելյացիոն</a:t>
            </a:r>
            <a:r>
              <a:rPr lang="en-US" sz="4000" dirty="0">
                <a:highlight>
                  <a:srgbClr val="FFFFFF"/>
                </a:highlight>
              </a:rPr>
              <a:t> </a:t>
            </a:r>
            <a:r>
              <a:rPr lang="en-US" sz="4000" err="1">
                <a:highlight>
                  <a:srgbClr val="FFFFFF"/>
                </a:highlight>
              </a:rPr>
              <a:t>վերլուծություն</a:t>
            </a:r>
            <a:endParaRPr lang="en-US" sz="4000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30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962A17-9E10-20D6-1EAB-03488FB3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err="1">
                <a:highlight>
                  <a:srgbClr val="FFFFFF"/>
                </a:highlight>
              </a:rPr>
              <a:t>Տվյալների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բաժանում</a:t>
            </a:r>
            <a:r>
              <a:rPr lang="en-US">
                <a:highlight>
                  <a:srgbClr val="FFFFFF"/>
                </a:highlight>
              </a:rPr>
              <a:t> Train / Test</a:t>
            </a:r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394A-6B85-3D5E-ECDF-61FBD4444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596" y="2459321"/>
            <a:ext cx="6086308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Տվյալները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բաժանվում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են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ուսուցման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(80%)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թեստավորման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(20%)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մասերի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՝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մոդելի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ընդհանրացման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կարողությունը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գնահատելու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համար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Random state-ի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օգտագործումը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ապահովում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վերարտադրելի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արդյունքներ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2CF3503-EEC4-52D8-E7B0-533B77679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066" y="2464148"/>
            <a:ext cx="5936724" cy="2466761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5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B126B-9796-58C3-87D8-9F040103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464461" cy="1179576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highlight>
                  <a:srgbClr val="FFFFFF"/>
                </a:highlight>
              </a:rPr>
              <a:t>Մոդելների համեմատություն</a:t>
            </a:r>
            <a:endParaRPr lang="en-US" sz="4000"/>
          </a:p>
          <a:p>
            <a:pPr algn="ctr"/>
            <a:endParaRPr lang="en-US" sz="4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123543C-2352-0B08-15F5-3B2F36EBB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695" b="-2"/>
          <a:stretch>
            <a:fillRect/>
          </a:stretch>
        </p:blipFill>
        <p:spPr>
          <a:xfrm>
            <a:off x="188637" y="2661468"/>
            <a:ext cx="5784078" cy="36377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D44D-52BF-85BD-A207-B064014E4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33" y="2280469"/>
            <a:ext cx="6200574" cy="44279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Մոդելների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արդյունավետությունը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գնահատվում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RMSE և R²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չափանիշներով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Ստացված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արդյունքները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ներկայացվում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են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աղյուսակային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գրաֆիկական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տեսքով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՝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պարզ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տեսանելի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համեմատության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համար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2138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showing a comparison of a model&#10;&#10;AI-generated content may be incorrect.">
            <a:extLst>
              <a:ext uri="{FF2B5EF4-FFF2-40B4-BE49-F238E27FC236}">
                <a16:creationId xmlns:a16="http://schemas.microsoft.com/office/drawing/2014/main" id="{7800D0CC-9084-1A91-B462-0C61A75EC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54545"/>
            <a:ext cx="5294716" cy="334890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graph showing a comparison of a model&#10;&#10;AI-generated content may be incorrect.">
            <a:extLst>
              <a:ext uri="{FF2B5EF4-FFF2-40B4-BE49-F238E27FC236}">
                <a16:creationId xmlns:a16="http://schemas.microsoft.com/office/drawing/2014/main" id="{3BA44575-E30D-BE51-6E49-4364A6CDF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3817" y="1754546"/>
            <a:ext cx="5294715" cy="334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42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EB2F8-BCA5-C62A-B599-F55B775DD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499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4000" err="1">
                <a:solidFill>
                  <a:schemeClr val="tx2"/>
                </a:solidFill>
                <a:highlight>
                  <a:srgbClr val="FFFFFF"/>
                </a:highlight>
              </a:rPr>
              <a:t>Իրական</a:t>
            </a:r>
            <a:r>
              <a:rPr lang="en-US" sz="4000" dirty="0">
                <a:solidFill>
                  <a:schemeClr val="tx2"/>
                </a:solidFill>
                <a:highlight>
                  <a:srgbClr val="FFFFFF"/>
                </a:highlight>
              </a:rPr>
              <a:t> vs </a:t>
            </a:r>
            <a:r>
              <a:rPr lang="en-US" sz="4000" err="1">
                <a:solidFill>
                  <a:schemeClr val="tx2"/>
                </a:solidFill>
                <a:highlight>
                  <a:srgbClr val="FFFFFF"/>
                </a:highlight>
              </a:rPr>
              <a:t>Կանխատեսված</a:t>
            </a:r>
            <a:r>
              <a:rPr lang="en-US" sz="4000" dirty="0">
                <a:solidFill>
                  <a:schemeClr val="tx2"/>
                </a:solidFill>
                <a:highlight>
                  <a:srgbClr val="FFFFFF"/>
                </a:highlight>
              </a:rPr>
              <a:t> </a:t>
            </a:r>
            <a:r>
              <a:rPr lang="en-US" sz="4000" err="1">
                <a:solidFill>
                  <a:schemeClr val="tx2"/>
                </a:solidFill>
                <a:highlight>
                  <a:srgbClr val="FFFFFF"/>
                </a:highlight>
              </a:rPr>
              <a:t>արժեքներ</a:t>
            </a:r>
            <a:endParaRPr lang="en-US" sz="4000" err="1">
              <a:solidFill>
                <a:schemeClr val="tx2"/>
              </a:solidFill>
            </a:endParaRPr>
          </a:p>
          <a:p>
            <a:pPr algn="ctr"/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C8297-4A75-EE0A-2F50-347FC886D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32" y="2315940"/>
            <a:ext cx="4897253" cy="4542857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>
              <a:buNone/>
            </a:pP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 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Այս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գրաֆիկը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համեմատում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է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իրական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և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կանխատեսված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արժեքները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։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Իդեալական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դեպքում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կետերը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պետք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է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մոտ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լինեն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անկյունագծին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ինչը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ցույց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է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տալիս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մոդելի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կանխատեսման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400" dirty="0" err="1">
                <a:solidFill>
                  <a:schemeClr val="tx2"/>
                </a:solidFill>
                <a:ea typeface="+mn-lt"/>
                <a:cs typeface="+mn-lt"/>
              </a:rPr>
              <a:t>ճշգրտությունը</a:t>
            </a:r>
            <a:r>
              <a:rPr lang="en-US" sz="4400" dirty="0">
                <a:solidFill>
                  <a:schemeClr val="tx2"/>
                </a:solidFill>
                <a:ea typeface="+mn-lt"/>
                <a:cs typeface="+mn-lt"/>
              </a:rPr>
              <a:t>։</a:t>
            </a:r>
            <a:endParaRPr lang="en-US" sz="4400" dirty="0">
              <a:solidFill>
                <a:schemeClr val="tx2"/>
              </a:solidFill>
            </a:endParaRPr>
          </a:p>
          <a:p>
            <a:pPr>
              <a:buNone/>
            </a:pPr>
            <a:br>
              <a:rPr lang="en-US" sz="1800" dirty="0"/>
            </a:br>
            <a:endParaRPr lang="en-US" sz="180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800" dirty="0">
                <a:solidFill>
                  <a:schemeClr val="tx2"/>
                </a:solidFill>
                <a:highlight>
                  <a:srgbClr val="FFFFFF"/>
                </a:highlight>
                <a:ea typeface="+mn-lt"/>
                <a:cs typeface="+mn-lt"/>
              </a:rPr>
              <a:t>[ ]</a:t>
            </a:r>
            <a:endParaRPr lang="en-US" sz="1800" dirty="0">
              <a:solidFill>
                <a:schemeClr val="tx2"/>
              </a:solidFill>
            </a:endParaRPr>
          </a:p>
          <a:p>
            <a:pPr>
              <a:buNone/>
            </a:pPr>
            <a:br>
              <a:rPr lang="en-US" sz="1800" dirty="0"/>
            </a:b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5F9542A9-50E6-966C-A5A1-D6235DC10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760" y="1825192"/>
            <a:ext cx="6896339" cy="503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4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596A9-CF28-EA9D-2219-87A5B09D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624" y="2037527"/>
            <a:ext cx="5638446" cy="4065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Գրաֆիկը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ցույց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տալիս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բնակարանների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գների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բաշխումը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Այն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օգտագործվում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տվյալների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ընդհանուր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կառուցվածքը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հասկանալու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համար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 dirty="0" err="1"/>
          </a:p>
        </p:txBody>
      </p:sp>
      <p:pic>
        <p:nvPicPr>
          <p:cNvPr id="4" name="Picture 3" descr="A graph of a distribution of house prices&#10;&#10;AI-generated content may be incorrect.">
            <a:extLst>
              <a:ext uri="{FF2B5EF4-FFF2-40B4-BE49-F238E27FC236}">
                <a16:creationId xmlns:a16="http://schemas.microsoft.com/office/drawing/2014/main" id="{F82CC9DF-620F-908B-1270-DE7A0E4E4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11" y="1716698"/>
            <a:ext cx="5123869" cy="32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5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9066-256C-40F9-CD70-61A492FC4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46" y="2024769"/>
            <a:ext cx="6357146" cy="53196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Գրաֆիկը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ներկայացնում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տան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գնի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մակերեսի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միջև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կապը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Այն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թույլ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տալիս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վիզուալ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կերպով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գնահատել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կախվածության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բնույթը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Գրաֆիկը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ցույց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տալիս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որ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մակերեսի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մեծացման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հետ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հիմնականում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աճում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նաև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dirty="0" err="1">
                <a:highlight>
                  <a:srgbClr val="FFFFFF"/>
                </a:highlight>
                <a:ea typeface="+mn-lt"/>
                <a:cs typeface="+mn-lt"/>
              </a:rPr>
              <a:t>գինը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 dirty="0"/>
          </a:p>
        </p:txBody>
      </p:sp>
      <p:pic>
        <p:nvPicPr>
          <p:cNvPr id="4" name="Picture 3" descr="A diagram of a house price&#10;&#10;AI-generated content may be incorrect.">
            <a:extLst>
              <a:ext uri="{FF2B5EF4-FFF2-40B4-BE49-F238E27FC236}">
                <a16:creationId xmlns:a16="http://schemas.microsoft.com/office/drawing/2014/main" id="{93B79DC0-066C-CC8D-8E90-4D75EB48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22" t="-10701" r="-3565" b="-10510"/>
          <a:stretch>
            <a:fillRect/>
          </a:stretch>
        </p:blipFill>
        <p:spPr>
          <a:xfrm>
            <a:off x="6442199" y="1444444"/>
            <a:ext cx="5693656" cy="45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34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FF188-054E-B444-8178-314C2914F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5" y="1294730"/>
            <a:ext cx="6262721" cy="4268539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75EB4-20A9-C316-8DDA-4084EA88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Գրաֆիկը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ցույց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տալիս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բնակարանների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միջին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գները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ըստ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կահավորման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կարգավիճակի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Այն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օգնում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հասկանալ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թե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ինչպես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կահավորվածության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մակարդակը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ազդում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գնի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վրա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արդյոք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տվյալ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փոփոխականը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կարևոր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մոդելի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200" dirty="0" err="1">
                <a:highlight>
                  <a:srgbClr val="FFFFFF"/>
                </a:highlight>
                <a:ea typeface="+mn-lt"/>
                <a:cs typeface="+mn-lt"/>
              </a:rPr>
              <a:t>համար</a:t>
            </a:r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41692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a bar graph&#10;&#10;AI-generated content may be incorrect.">
            <a:extLst>
              <a:ext uri="{FF2B5EF4-FFF2-40B4-BE49-F238E27FC236}">
                <a16:creationId xmlns:a16="http://schemas.microsoft.com/office/drawing/2014/main" id="{45380C62-B4B1-8D69-AD35-448CC2B59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4" b="593"/>
          <a:stretch>
            <a:fillRect/>
          </a:stretch>
        </p:blipFill>
        <p:spPr>
          <a:xfrm>
            <a:off x="-350" y="-6194"/>
            <a:ext cx="12189977" cy="51710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1903B-4903-3A64-AA66-B5873AC3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64" y="5617321"/>
            <a:ext cx="10538026" cy="8654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Գրաֆիկը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օգնում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բացատրել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մոդելի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որոշումները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՝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պարզելով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թե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որ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փոփոխականներն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ունեն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ամենամեծ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ազդեցությունը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կանխատեսումների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վրա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Այս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վերլուծությունը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բարձրացնում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է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մոդելի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բացատրելիությունը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 և </a:t>
            </a:r>
            <a:r>
              <a:rPr lang="en-US" sz="2400" err="1">
                <a:highlight>
                  <a:srgbClr val="FFFFFF"/>
                </a:highlight>
                <a:ea typeface="+mn-lt"/>
                <a:cs typeface="+mn-lt"/>
              </a:rPr>
              <a:t>վստահելիությունը</a:t>
            </a:r>
            <a:r>
              <a:rPr lang="en-US" sz="2400" dirty="0">
                <a:highlight>
                  <a:srgbClr val="FFFFFF"/>
                </a:highlight>
                <a:ea typeface="+mn-lt"/>
                <a:cs typeface="+mn-lt"/>
              </a:rPr>
              <a:t>։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3835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F81FF-25F7-938F-6CC6-4992298F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36" y="254814"/>
            <a:ext cx="5271712" cy="1956841"/>
          </a:xfrm>
        </p:spPr>
        <p:txBody>
          <a:bodyPr anchor="b">
            <a:normAutofit/>
          </a:bodyPr>
          <a:lstStyle/>
          <a:p>
            <a:r>
              <a:rPr lang="en-US" sz="4000" dirty="0"/>
              <a:t>ԵԶՐԱԿԱՑՈՒԹՅՈՒՆ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39B85-3327-8AA1-9236-7D4D2936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58" y="2618900"/>
            <a:ext cx="4949144" cy="37581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>
                <a:ea typeface="+mn-lt"/>
                <a:cs typeface="+mn-lt"/>
              </a:rPr>
              <a:t>Բնակարանային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տվյալների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հավաքածուն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ներառում</a:t>
            </a:r>
            <a:r>
              <a:rPr lang="en-US" sz="2400" dirty="0">
                <a:ea typeface="+mn-lt"/>
                <a:cs typeface="+mn-lt"/>
              </a:rPr>
              <a:t> է </a:t>
            </a:r>
            <a:r>
              <a:rPr lang="en-US" sz="2400" err="1">
                <a:ea typeface="+mn-lt"/>
                <a:cs typeface="+mn-lt"/>
              </a:rPr>
              <a:t>բնակելի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անշարժ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գույքի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հիմնական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հատկանիշներ</a:t>
            </a:r>
            <a:r>
              <a:rPr lang="en-US" sz="2400" dirty="0">
                <a:ea typeface="+mn-lt"/>
                <a:cs typeface="+mn-lt"/>
              </a:rPr>
              <a:t> և </a:t>
            </a:r>
            <a:r>
              <a:rPr lang="en-US" sz="2400" err="1">
                <a:ea typeface="+mn-lt"/>
                <a:cs typeface="+mn-lt"/>
              </a:rPr>
              <a:t>օգտագործվում</a:t>
            </a:r>
            <a:r>
              <a:rPr lang="en-US" sz="2400" dirty="0">
                <a:ea typeface="+mn-lt"/>
                <a:cs typeface="+mn-lt"/>
              </a:rPr>
              <a:t> է </a:t>
            </a:r>
            <a:r>
              <a:rPr lang="en-US" sz="2400" err="1">
                <a:ea typeface="+mn-lt"/>
                <a:cs typeface="+mn-lt"/>
              </a:rPr>
              <a:t>շուկայի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վերլուծության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ու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գների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կանխատեսման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համար</a:t>
            </a:r>
            <a:r>
              <a:rPr lang="en-US" sz="2400" dirty="0">
                <a:ea typeface="+mn-lt"/>
                <a:cs typeface="+mn-lt"/>
              </a:rPr>
              <a:t>։ </a:t>
            </a:r>
            <a:r>
              <a:rPr lang="en-US" sz="2400" err="1">
                <a:ea typeface="+mn-lt"/>
                <a:cs typeface="+mn-lt"/>
              </a:rPr>
              <a:t>Քանի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որ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անշարժ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գույքի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շուկան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տնտեսության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կարևոր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ոլորտ</a:t>
            </a:r>
            <a:r>
              <a:rPr lang="en-US" sz="2400" dirty="0">
                <a:ea typeface="+mn-lt"/>
                <a:cs typeface="+mn-lt"/>
              </a:rPr>
              <a:t> է, </a:t>
            </a:r>
            <a:r>
              <a:rPr lang="en-US" sz="2400" err="1">
                <a:ea typeface="+mn-lt"/>
                <a:cs typeface="+mn-lt"/>
              </a:rPr>
              <a:t>մեքենայական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ուսուցման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մեթոդները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թույլ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են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տալիս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ստանալ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ավելի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ճշգրիտ</a:t>
            </a:r>
            <a:r>
              <a:rPr lang="en-US" sz="2400" dirty="0">
                <a:ea typeface="+mn-lt"/>
                <a:cs typeface="+mn-lt"/>
              </a:rPr>
              <a:t> և </a:t>
            </a:r>
            <a:r>
              <a:rPr lang="en-US" sz="2400" err="1">
                <a:ea typeface="+mn-lt"/>
                <a:cs typeface="+mn-lt"/>
              </a:rPr>
              <a:t>արդյունավետ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կանխատեսումներ</a:t>
            </a:r>
            <a:r>
              <a:rPr lang="en-US" sz="2400" dirty="0">
                <a:ea typeface="+mn-lt"/>
                <a:cs typeface="+mn-lt"/>
              </a:rPr>
              <a:t>։</a:t>
            </a:r>
            <a:endParaRPr lang="en-US" sz="2400" dirty="0"/>
          </a:p>
        </p:txBody>
      </p:sp>
      <p:pic>
        <p:nvPicPr>
          <p:cNvPr id="4" name="Picture 3" descr="A row of small houses on a calendar&#10;&#10;AI-generated content may be incorrect.">
            <a:extLst>
              <a:ext uri="{FF2B5EF4-FFF2-40B4-BE49-F238E27FC236}">
                <a16:creationId xmlns:a16="http://schemas.microsoft.com/office/drawing/2014/main" id="{3F5CD99E-D7B6-82E5-EF9D-006D440E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4594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ow of houses with a graph&#10;&#10;AI-generated content may be incorrect.">
            <a:extLst>
              <a:ext uri="{FF2B5EF4-FFF2-40B4-BE49-F238E27FC236}">
                <a16:creationId xmlns:a16="http://schemas.microsoft.com/office/drawing/2014/main" id="{A748C0EF-05C2-C0B9-658A-6085291792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A2713F-65EC-279F-A6BC-BB49D236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ՇՆՈՐՀԱԿԱԼՈՒԹՅՈՒՆ ՈՒՇԱԴՐՈՒԹՅԱՆ ՀԱՄԱՐ</a:t>
            </a:r>
          </a:p>
        </p:txBody>
      </p:sp>
    </p:spTree>
    <p:extLst>
      <p:ext uri="{BB962C8B-B14F-4D97-AF65-F5344CB8AC3E}">
        <p14:creationId xmlns:p14="http://schemas.microsoft.com/office/powerpoint/2010/main" val="4276244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   ԱՆՇԱՐԺ ԳՈՒՅՔԻ ԳՆԵՐԻ ԿԱՆԽԱՏԵՍՄԱՆ ՀԱՄԱԿԱՐԳԻ ՄՇԱԿՈՒՄ  </vt:lpstr>
      <vt:lpstr>Նախագծի նպատակը</vt:lpstr>
      <vt:lpstr>Նախագծի խնդիրները</vt:lpstr>
      <vt:lpstr>Գրադարանների ներբեռնում </vt:lpstr>
      <vt:lpstr>Տվյալների ներբեռնում</vt:lpstr>
      <vt:lpstr>PowerPoint Presentation</vt:lpstr>
      <vt:lpstr>Նկարագրական վիճակագրություն</vt:lpstr>
      <vt:lpstr>Բացակայող արժեքների և կրկնօրինակների վերլուծություն </vt:lpstr>
      <vt:lpstr>PowerPoint Presentation</vt:lpstr>
      <vt:lpstr>Անոմալիաների (Outliers) հայտնաբերում </vt:lpstr>
      <vt:lpstr>Տվյալների բաշխման վերլուծություն </vt:lpstr>
      <vt:lpstr>Կոռելյացիոն վերլուծություն </vt:lpstr>
      <vt:lpstr>Տվյալների բաժանում Train / Test </vt:lpstr>
      <vt:lpstr>Մոդելների համեմատություն </vt:lpstr>
      <vt:lpstr>PowerPoint Presentation</vt:lpstr>
      <vt:lpstr>Իրական vs Կանխատեսված արժեքներ </vt:lpstr>
      <vt:lpstr>PowerPoint Presentation</vt:lpstr>
      <vt:lpstr>PowerPoint Presentation</vt:lpstr>
      <vt:lpstr>PowerPoint Presentation</vt:lpstr>
      <vt:lpstr>PowerPoint Presentation</vt:lpstr>
      <vt:lpstr>ԵԶՐԱԿԱՑՈՒԹՅՈՒՆ</vt:lpstr>
      <vt:lpstr>ՇՆՈՐՀԱԿԱԼՈՒԹՅՈՒՆ ՈՒՇԱԴՐՈՒԹՅԱՆ ՀԱՄԱՐ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484</cp:revision>
  <dcterms:created xsi:type="dcterms:W3CDTF">2026-01-17T19:59:40Z</dcterms:created>
  <dcterms:modified xsi:type="dcterms:W3CDTF">2026-01-18T00:12:59Z</dcterms:modified>
</cp:coreProperties>
</file>